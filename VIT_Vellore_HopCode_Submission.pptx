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style2.xml" ContentType="application/vnd.ms-office.chartstyle+xml"/>
  <Override PartName="/ppt/charts/chart2.xml" ContentType="application/vnd.openxmlformats-officedocument.drawingml.chart+xml"/>
  <Override PartName="/ppt/charts/colors2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14142B"/>
                </a:solidFill>
                <a:uFillTx/>
                <a:latin typeface="Arial"/>
              </a:rPr>
              <a:t>NDCG@10 on AppsRetrieval test (RTX 4060, bf16)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6D28D9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6D28D9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B8A6E8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B8A6E8"/>
              </a:solidFill>
              <a:ln w="0">
                <a:noFill/>
              </a:ln>
            </c:spPr>
          </c:dPt>
          <c:dLbls>
            <c:dLbl>
              <c:idx val="0"/>
              <c:numFmt formatCode="0.0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414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414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414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4142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EmbeddingGemma-300m</c:v>
                </c:pt>
                <c:pt idx="1">
                  <c:v>Fine-tuned (ours, v1)</c:v>
                </c:pt>
                <c:pt idx="2">
                  <c:v>Qwen3-Embedding-0.6B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84.05</c:v>
                </c:pt>
                <c:pt idx="1">
                  <c:v>82.04</c:v>
                </c:pt>
                <c:pt idx="2">
                  <c:v>75.92</c:v>
                </c:pt>
              </c:numCache>
            </c:numRef>
          </c:val>
        </c:ser>
        <c:gapWidth val="60"/>
        <c:overlap val="0"/>
        <c:axId val="57431191"/>
        <c:axId val="90343987"/>
      </c:barChart>
      <c:catAx>
        <c:axId val="57431191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200" b="0" u="none" strike="noStrike">
                <a:solidFill>
                  <a:srgbClr val="63637E"/>
                </a:solidFill>
                <a:uFillTx/>
                <a:latin typeface="Arial"/>
              </a:defRPr>
            </a:pPr>
          </a:p>
        </c:txPr>
        <c:crossAx val="90343987"/>
        <c:crosses val="autoZero"/>
        <c:auto val="1"/>
        <c:lblAlgn val="ctr"/>
        <c:lblOffset val="100"/>
        <c:noMultiLvlLbl val="0"/>
      </c:catAx>
      <c:valAx>
        <c:axId val="90343987"/>
        <c:scaling>
          <c:orientation val="minMax"/>
          <c:max val="88"/>
          <c:min val="70"/>
        </c:scaling>
        <c:delete val="1"/>
        <c:axPos val="l"/>
        <c:majorGridlines>
          <c:spPr>
            <a:ln w="6480">
              <a:solidFill>
                <a:srgbClr val="E6E1F5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63637E"/>
                </a:solidFill>
                <a:uFillTx/>
                <a:latin typeface="Arial"/>
              </a:defRPr>
            </a:pPr>
          </a:p>
        </c:txPr>
        <c:crossAx val="57431191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14142B"/>
                </a:solidFill>
                <a:uFillTx/>
                <a:latin typeface="Arial"/>
              </a:rPr>
              <a:t>NDCG@10, base model, RTX 4060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6D28D9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6D28D9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B8A6E8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B8A6E8"/>
              </a:solidFill>
              <a:ln w="0">
                <a:noFill/>
              </a:ln>
            </c:spPr>
          </c:dPt>
          <c:dLbls>
            <c:dLbl>
              <c:idx val="0"/>
              <c:numFmt formatCode="0.0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414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414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0" sourceLinked="0"/>
              <c:txPr>
                <a:bodyPr wrap="square"/>
                <a:lstStyle/>
                <a:p>
                  <a:pPr>
                    <a:defRPr sz="1200" b="0" u="none" strike="noStrike">
                      <a:solidFill>
                        <a:srgbClr val="14142B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0" sourceLinked="0"/>
            <c:txPr>
              <a:bodyPr wrap="square"/>
              <a:lstStyle/>
              <a:p>
                <a:pPr>
                  <a:defRPr sz="1200" b="0" u="none" strike="noStrike">
                    <a:solidFill>
                      <a:srgbClr val="14142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Full statement</c:v>
                </c:pt>
                <c:pt idx="1">
                  <c:v>+ core view (0.5)</c:v>
                </c:pt>
                <c:pt idx="2">
                  <c:v>+ core + I/O view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84.05</c:v>
                </c:pt>
                <c:pt idx="1">
                  <c:v>82.1</c:v>
                </c:pt>
                <c:pt idx="2">
                  <c:v>82.68</c:v>
                </c:pt>
              </c:numCache>
            </c:numRef>
          </c:val>
        </c:ser>
        <c:gapWidth val="60"/>
        <c:overlap val="0"/>
        <c:axId val="81058641"/>
        <c:axId val="16377117"/>
      </c:barChart>
      <c:catAx>
        <c:axId val="8105864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200" b="0" u="none" strike="noStrike">
                <a:solidFill>
                  <a:srgbClr val="63637E"/>
                </a:solidFill>
                <a:uFillTx/>
                <a:latin typeface="Arial"/>
              </a:defRPr>
            </a:pPr>
          </a:p>
        </c:txPr>
        <c:crossAx val="16377117"/>
        <c:crosses val="autoZero"/>
        <c:auto val="1"/>
        <c:lblAlgn val="ctr"/>
        <c:lblOffset val="100"/>
        <c:noMultiLvlLbl val="0"/>
      </c:catAx>
      <c:valAx>
        <c:axId val="16377117"/>
        <c:scaling>
          <c:orientation val="minMax"/>
          <c:max val="86"/>
          <c:min val="78"/>
        </c:scaling>
        <c:delete val="1"/>
        <c:axPos val="l"/>
        <c:majorGridlines>
          <c:spPr>
            <a:ln w="6480">
              <a:solidFill>
                <a:srgbClr val="E6E1F5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000" b="0" u="none" strike="noStrike">
                <a:solidFill>
                  <a:srgbClr val="63637E"/>
                </a:solidFill>
                <a:uFillTx/>
                <a:latin typeface="Arial"/>
              </a:defRPr>
            </a:pPr>
          </a:p>
        </c:txPr>
        <c:crossAx val="81058641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18893F1-726A-4580-BC64-054D4137244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44200-80E6-4360-8203-5F242231DC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085C39-FAA1-49D1-B87A-5282969335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2EA52D-41FB-4F1D-B0FC-696473CC8E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1BE0E8-3383-481E-8EEB-36CA9AC67B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C0FD2D-F994-43EF-8C99-D222A457D1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55CE81-D373-43CC-BF41-2A689865E1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F9B414-53C7-4D35-A1C0-2A0F11526B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9DB005-CFD7-4FB2-82F5-F5A3D862BD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4AF83E-3FCD-49A8-AA69-BDF221781F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F8BAE9-F1CE-40A4-81A6-2B2E4210F9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1CF655-044B-4A05-BBCA-1CDF9F251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AADE37-2136-413C-96CB-60FA92A62A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640080" y="548640"/>
            <a:ext cx="10881000" cy="36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81000" cy="2925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6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6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6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40080" y="4754880"/>
            <a:ext cx="68576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64008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14600" lvl="5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971800" lvl="6" indent="-2286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8810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>
              <a:buNone/>
              <a:def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Text 0"/>
          <p:cNvSpPr/>
          <p:nvPr/>
        </p:nvSpPr>
        <p:spPr>
          <a:xfrm>
            <a:off x="640080" y="640080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CodeRetriever · Samsung PRISM GenAI Hackathon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1"/>
          </p:nvPr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044498-19F3-4057-A0FC-5740E3C54EC6}" type="slidenum">
              <a:rPr lang="en-US" sz="10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777600" y="329760"/>
            <a:ext cx="2422800" cy="3470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777240" y="338760"/>
            <a:ext cx="2422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111" strike="noStrike">
                <a:solidFill>
                  <a:srgbClr val="6D28D9"/>
                </a:solidFill>
                <a:effectLst/>
                <a:uFillTx/>
                <a:latin typeface="Arial"/>
                <a:ea typeface="Arial"/>
              </a:rPr>
              <a:t>SAMSUNG </a:t>
            </a:r>
            <a:r>
              <a:rPr lang="en-US" sz="1100" b="1" u="none" spc="111" strike="noStrike">
                <a:solidFill>
                  <a:srgbClr val="6D28D9"/>
                </a:solidFill>
                <a:effectLst/>
                <a:uFillTx/>
                <a:latin typeface="Arial"/>
                <a:ea typeface="Arial"/>
              </a:rPr>
              <a:t>PRISM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731880" y="914400"/>
            <a:ext cx="61261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14142B"/>
                </a:solidFill>
                <a:effectLst/>
                <a:uFillTx/>
                <a:latin typeface="Arial"/>
                <a:ea typeface="Arial"/>
              </a:rPr>
              <a:t>Ge</a:t>
            </a:r>
            <a:r>
              <a:rPr lang="en-US" sz="5000" b="1" u="none" strike="noStrike">
                <a:solidFill>
                  <a:srgbClr val="14142B"/>
                </a:solidFill>
                <a:effectLst/>
                <a:uFillTx/>
                <a:latin typeface="Arial"/>
                <a:ea typeface="Arial"/>
              </a:rPr>
              <a:t>ner</a:t>
            </a:r>
            <a:r>
              <a:rPr lang="en-US" sz="5000" b="1" u="none" strike="noStrike">
                <a:solidFill>
                  <a:srgbClr val="14142B"/>
                </a:solidFill>
                <a:effectLst/>
                <a:uFillTx/>
                <a:latin typeface="Arial"/>
                <a:ea typeface="Arial"/>
              </a:rPr>
              <a:t>ati</a:t>
            </a:r>
            <a:r>
              <a:rPr lang="en-US" sz="5000" b="1" u="none" strike="noStrike">
                <a:solidFill>
                  <a:srgbClr val="14142B"/>
                </a:solidFill>
                <a:effectLst/>
                <a:uFillTx/>
                <a:latin typeface="Arial"/>
                <a:ea typeface="Arial"/>
              </a:rPr>
              <a:t>ve </a:t>
            </a:r>
            <a:r>
              <a:rPr lang="en-US" sz="5000" b="1" u="none" strike="noStrike">
                <a:solidFill>
                  <a:srgbClr val="14142B"/>
                </a:solidFill>
                <a:effectLst/>
                <a:uFillTx/>
                <a:latin typeface="Arial"/>
                <a:ea typeface="Arial"/>
              </a:rPr>
              <a:t>AI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731880" y="1663920"/>
            <a:ext cx="612612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rgbClr val="6D28D9"/>
                </a:solidFill>
                <a:effectLst/>
                <a:uFillTx/>
                <a:latin typeface="Arial"/>
                <a:ea typeface="Arial"/>
              </a:rPr>
              <a:t>Ha</a:t>
            </a:r>
            <a:r>
              <a:rPr lang="en-US" sz="5000" b="1" u="none" strike="noStrike">
                <a:solidFill>
                  <a:srgbClr val="6D28D9"/>
                </a:solidFill>
                <a:effectLst/>
                <a:uFillTx/>
                <a:latin typeface="Arial"/>
                <a:ea typeface="Arial"/>
              </a:rPr>
              <a:t>cka</a:t>
            </a:r>
            <a:r>
              <a:rPr lang="en-US" sz="5000" b="1" u="none" strike="noStrike">
                <a:solidFill>
                  <a:srgbClr val="6D28D9"/>
                </a:solidFill>
                <a:effectLst/>
                <a:uFillTx/>
                <a:latin typeface="Arial"/>
                <a:ea typeface="Arial"/>
              </a:rPr>
              <a:t>tho</a:t>
            </a:r>
            <a:r>
              <a:rPr lang="en-US" sz="5000" b="1" u="none" strike="noStrike">
                <a:solidFill>
                  <a:srgbClr val="6D28D9"/>
                </a:solidFill>
                <a:effectLst/>
                <a:uFillTx/>
                <a:latin typeface="Arial"/>
                <a:ea typeface="Arial"/>
              </a:rPr>
              <a:t>n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777240" y="2413440"/>
            <a:ext cx="6126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14142B"/>
                </a:solidFill>
                <a:effectLst/>
                <a:uFillTx/>
                <a:latin typeface="Arial"/>
                <a:ea typeface="Arial"/>
              </a:rPr>
              <a:t>3rd </a:t>
            </a:r>
            <a:r>
              <a:rPr lang="en-US" sz="2500" b="1" u="none" strike="noStrike">
                <a:solidFill>
                  <a:srgbClr val="14142B"/>
                </a:solidFill>
                <a:effectLst/>
                <a:uFillTx/>
                <a:latin typeface="Arial"/>
                <a:ea typeface="Arial"/>
              </a:rPr>
              <a:t>Edition</a:t>
            </a:r>
            <a:r>
              <a:rPr lang="en-US" sz="20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20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  2026 – </a:t>
            </a:r>
            <a:r>
              <a:rPr lang="en-US" sz="20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777240" y="3081600"/>
            <a:ext cx="6766560" cy="331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77840" indent="-177840" defTabSz="914400">
              <a:lnSpc>
                <a:spcPct val="100000"/>
              </a:lnSpc>
              <a:spcAft>
                <a:spcPts val="499"/>
              </a:spcAft>
              <a:buClr>
                <a:srgbClr val="636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Theme ID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- Theme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1 ·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CodeRetr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iever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99"/>
              </a:spcAft>
              <a:buClr>
                <a:srgbClr val="636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Team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Name -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HopCode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99"/>
              </a:spcAft>
              <a:buClr>
                <a:srgbClr val="636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College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Name –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Vellore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Institute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of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Technolo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gy,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Vellore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99"/>
              </a:spcAft>
              <a:buClr>
                <a:srgbClr val="636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Member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Name &amp;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Email 1 –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Somasek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ar Naidu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somasek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arnaidu.l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2024@vit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student.a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c.in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99"/>
              </a:spcAft>
              <a:buClr>
                <a:srgbClr val="636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Member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Name &amp;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Email 2 -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Jyotirmoy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Bhunia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jyotirmoy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bhunia21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@gmail.c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om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99"/>
              </a:spcAft>
              <a:buClr>
                <a:srgbClr val="636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Member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Name &amp;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Email 3 –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Jha Ritika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Satishku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mar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jha.ritika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2024@vit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student.a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c.in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99"/>
              </a:spcAft>
              <a:buClr>
                <a:srgbClr val="636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Member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Name &amp;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Email 4 -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Sayan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Chowdhu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ry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sayan.ch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owdhury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2024@vit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student.a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c.in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499"/>
              </a:spcAft>
              <a:buClr>
                <a:srgbClr val="63637E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Submissi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on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Github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link - 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github.co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m/SOMA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SEKAR17/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CodeRetr</a:t>
            </a:r>
            <a:r>
              <a:rPr lang="en-US" sz="1600" b="0" u="none" strike="noStrike">
                <a:solidFill>
                  <a:srgbClr val="63637E"/>
                </a:solidFill>
                <a:effectLst/>
                <a:uFillTx/>
                <a:latin typeface="Calibri"/>
                <a:ea typeface="Calibri"/>
              </a:rPr>
              <a:t>iever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hero_network.png"/>
          <p:cNvPicPr/>
          <p:nvPr/>
        </p:nvPicPr>
        <p:blipFill>
          <a:blip r:embed="rId1"/>
          <a:stretch/>
        </p:blipFill>
        <p:spPr>
          <a:xfrm>
            <a:off x="7059240" y="1051560"/>
            <a:ext cx="4571640" cy="4571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hasCustomPrompt="1"/>
          </p:nvPr>
        </p:nvSpPr>
        <p:spPr>
          <a:xfrm>
            <a:off x="64008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6D28D9"/>
                </a:solidFill>
                <a:effectLst/>
                <a:uFillTx/>
                <a:latin typeface="Arial"/>
              </a:rPr>
              <a:t>THE PROBLEM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title" hasCustomPrompt="1"/>
          </p:nvPr>
        </p:nvSpPr>
        <p:spPr>
          <a:xfrm>
            <a:off x="640080" y="731520"/>
            <a:ext cx="108810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Find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code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by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what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it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does,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acros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s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every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versi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on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roblem card 1"/>
          <p:cNvSpPr/>
          <p:nvPr/>
        </p:nvSpPr>
        <p:spPr>
          <a:xfrm>
            <a:off x="640080" y="1920240"/>
            <a:ext cx="3428640" cy="3931560"/>
          </a:xfrm>
          <a:prstGeom prst="roundRect">
            <a:avLst>
              <a:gd name="adj" fmla="val 3200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roblem tag 1"/>
          <p:cNvSpPr/>
          <p:nvPr/>
        </p:nvSpPr>
        <p:spPr>
          <a:xfrm>
            <a:off x="960120" y="219456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6D28D9"/>
                </a:solidFill>
                <a:effectLst/>
                <a:uFillTx/>
                <a:latin typeface="Arial"/>
              </a:rPr>
              <a:t>P0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roblem head 1"/>
          <p:cNvSpPr/>
          <p:nvPr/>
        </p:nvSpPr>
        <p:spPr>
          <a:xfrm>
            <a:off x="960120" y="31546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Retrieval accuracy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roblem body 1"/>
          <p:cNvSpPr/>
          <p:nvPr/>
        </p:nvSpPr>
        <p:spPr>
          <a:xfrm>
            <a:off x="960120" y="3703320"/>
            <a:ext cx="28342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Given a programming problem in natural language, rank the correct solution first among 8,765 candidates. Scored by NDCG@10 and MRR on CoIR AppsRetrieval via MTEB, CPU first.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roblem card 2"/>
          <p:cNvSpPr/>
          <p:nvPr/>
        </p:nvSpPr>
        <p:spPr>
          <a:xfrm>
            <a:off x="4343400" y="1920240"/>
            <a:ext cx="3428640" cy="3931560"/>
          </a:xfrm>
          <a:prstGeom prst="roundRect">
            <a:avLst>
              <a:gd name="adj" fmla="val 3200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roblem tag 2"/>
          <p:cNvSpPr/>
          <p:nvPr/>
        </p:nvSpPr>
        <p:spPr>
          <a:xfrm>
            <a:off x="4663440" y="219456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6D28D9"/>
                </a:solidFill>
                <a:effectLst/>
                <a:uFillTx/>
                <a:latin typeface="Arial"/>
              </a:rPr>
              <a:t>P1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roblem head 2"/>
          <p:cNvSpPr/>
          <p:nvPr/>
        </p:nvSpPr>
        <p:spPr>
          <a:xfrm>
            <a:off x="4663440" y="31546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Retrieval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across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versions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roblem body 2"/>
          <p:cNvSpPr/>
          <p:nvPr/>
        </p:nvSpPr>
        <p:spPr>
          <a:xfrm>
            <a:off x="4663440" y="3703320"/>
            <a:ext cx="28342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Search any release of a codebase, and rebuild the index quickly when a new version arrives.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roblem card 3"/>
          <p:cNvSpPr/>
          <p:nvPr/>
        </p:nvSpPr>
        <p:spPr>
          <a:xfrm>
            <a:off x="8046720" y="1920240"/>
            <a:ext cx="3428640" cy="3931560"/>
          </a:xfrm>
          <a:prstGeom prst="roundRect">
            <a:avLst>
              <a:gd name="adj" fmla="val 3200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roblem tag 3"/>
          <p:cNvSpPr/>
          <p:nvPr/>
        </p:nvSpPr>
        <p:spPr>
          <a:xfrm>
            <a:off x="8366760" y="219456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6D28D9"/>
                </a:solidFill>
                <a:effectLst/>
                <a:uFillTx/>
                <a:latin typeface="Arial"/>
              </a:rPr>
              <a:t>Bonus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roblem head 3"/>
          <p:cNvSpPr/>
          <p:nvPr/>
        </p:nvSpPr>
        <p:spPr>
          <a:xfrm>
            <a:off x="8366760" y="3154680"/>
            <a:ext cx="2834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Evolutionary retrieval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roblem body 3"/>
          <p:cNvSpPr/>
          <p:nvPr/>
        </p:nvSpPr>
        <p:spPr>
          <a:xfrm>
            <a:off x="8366760" y="3703320"/>
            <a:ext cx="28342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Answer questions across all versions at once: where a function lives now, and when and how it changed.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457200" y="6401160"/>
            <a:ext cx="36576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hasCustomPrompt="1"/>
          </p:nvPr>
        </p:nvSpPr>
        <p:spPr>
          <a:xfrm>
            <a:off x="64008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6D28D9"/>
                </a:solidFill>
                <a:effectLst/>
                <a:uFillTx/>
                <a:latin typeface="Arial"/>
              </a:rPr>
              <a:t>RESULTS AT A GLANCE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title" hasCustomPrompt="1"/>
          </p:nvPr>
        </p:nvSpPr>
        <p:spPr>
          <a:xfrm>
            <a:off x="640080" y="731520"/>
            <a:ext cx="108810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Strong accuracy on CPU, near-instant re-indexing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stat ndcg value"/>
          <p:cNvSpPr/>
          <p:nvPr/>
        </p:nvSpPr>
        <p:spPr>
          <a:xfrm>
            <a:off x="640080" y="2103120"/>
            <a:ext cx="265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6D28D9"/>
                </a:solidFill>
                <a:effectLst/>
                <a:uFillTx/>
                <a:latin typeface="Arial"/>
              </a:rPr>
              <a:t>84.03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tat ndcg label"/>
          <p:cNvSpPr/>
          <p:nvPr/>
        </p:nvSpPr>
        <p:spPr>
          <a:xfrm>
            <a:off x="640080" y="306324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NDCG@10 on AppsRetrieval test, CPU fp32 (submission run)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tat mrr value"/>
          <p:cNvSpPr/>
          <p:nvPr/>
        </p:nvSpPr>
        <p:spPr>
          <a:xfrm>
            <a:off x="3429000" y="2103120"/>
            <a:ext cx="265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6D28D9"/>
                </a:solidFill>
                <a:effectLst/>
                <a:uFillTx/>
                <a:latin typeface="Arial"/>
              </a:rPr>
              <a:t>80.70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tat mrr label"/>
          <p:cNvSpPr/>
          <p:nvPr/>
        </p:nvSpPr>
        <p:spPr>
          <a:xfrm>
            <a:off x="3429000" y="306324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MRR@10 on the same run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tat recall value"/>
          <p:cNvSpPr/>
          <p:nvPr/>
        </p:nvSpPr>
        <p:spPr>
          <a:xfrm>
            <a:off x="6217920" y="2103120"/>
            <a:ext cx="265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6D28D9"/>
                </a:solidFill>
                <a:effectLst/>
                <a:uFillTx/>
                <a:latin typeface="Arial"/>
              </a:rPr>
              <a:t>99.5%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tat recall label"/>
          <p:cNvSpPr/>
          <p:nvPr/>
        </p:nvSpPr>
        <p:spPr>
          <a:xfrm>
            <a:off x="6217920" y="306324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Recall@100: the right solution is almost always in the top 100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tat reindex value"/>
          <p:cNvSpPr/>
          <p:nvPr/>
        </p:nvSpPr>
        <p:spPr>
          <a:xfrm>
            <a:off x="9006840" y="2103120"/>
            <a:ext cx="2651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0" u="none" strike="noStrike">
                <a:solidFill>
                  <a:srgbClr val="6D28D9"/>
                </a:solidFill>
                <a:effectLst/>
                <a:uFillTx/>
                <a:latin typeface="Arial"/>
              </a:rPr>
              <a:t>10.7×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tat reindex label"/>
          <p:cNvSpPr/>
          <p:nvPr/>
        </p:nvSpPr>
        <p:spPr>
          <a:xfrm>
            <a:off x="9006840" y="306324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Faster average re-index for a new version (psf/requests)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results note card"/>
          <p:cNvSpPr/>
          <p:nvPr/>
        </p:nvSpPr>
        <p:spPr>
          <a:xfrm>
            <a:off x="640080" y="4297680"/>
            <a:ext cx="10926720" cy="1462680"/>
          </a:xfrm>
          <a:prstGeom prst="roundRect">
            <a:avLst>
              <a:gd name="adj" fmla="val 7500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results note"/>
          <p:cNvSpPr/>
          <p:nvPr/>
        </p:nvSpPr>
        <p:spPr>
          <a:xfrm>
            <a:off x="960120" y="4572000"/>
            <a:ext cx="1024092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CPU and GPU give the same score to within 0.02 NDCG@10, so the CPU-first submission loses nothing. Searches over an indexed repository answer in about 80–130 ms.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457200" y="6401160"/>
            <a:ext cx="36576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hasCustomPrompt="1"/>
          </p:nvPr>
        </p:nvSpPr>
        <p:spPr>
          <a:xfrm>
            <a:off x="64008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6D28D9"/>
                </a:solidFill>
                <a:effectLst/>
                <a:uFillTx/>
                <a:latin typeface="Arial"/>
              </a:rPr>
              <a:t>MODEL SELECTION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title" hasCustomPrompt="1"/>
          </p:nvPr>
        </p:nvSpPr>
        <p:spPr>
          <a:xfrm>
            <a:off x="640080" y="731520"/>
            <a:ext cx="108810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Base EmbeddingGemma won every comparison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4" name="Chart 0"/>
          <p:cNvGraphicFramePr/>
          <p:nvPr/>
        </p:nvGraphicFramePr>
        <p:xfrm>
          <a:off x="640080" y="1737360"/>
          <a:ext cx="630900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5" name="why card"/>
          <p:cNvSpPr/>
          <p:nvPr/>
        </p:nvSpPr>
        <p:spPr>
          <a:xfrm>
            <a:off x="7315200" y="1737360"/>
            <a:ext cx="4251600" cy="2148480"/>
          </a:xfrm>
          <a:prstGeom prst="roundRect">
            <a:avLst>
              <a:gd name="adj" fmla="val 5106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why head"/>
          <p:cNvSpPr/>
          <p:nvPr/>
        </p:nvSpPr>
        <p:spPr>
          <a:xfrm>
            <a:off x="7589520" y="192024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Why EmbeddingGemma-300m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why body"/>
          <p:cNvSpPr/>
          <p:nvPr/>
        </p:nvSpPr>
        <p:spPr>
          <a:xfrm>
            <a:off x="7589520" y="2331720"/>
            <a:ext cx="37486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Chosen for the best accuracy at 300M parameters (84.05 vs 75.92 for a model twice its size), CPU-friendly, and a single embedding space across CPU and GPU. Larger code embedders gain only ~1–3 points at several times the CPU cost, and some are non-commercial.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model notes"/>
          <p:cNvSpPr/>
          <p:nvPr/>
        </p:nvSpPr>
        <p:spPr>
          <a:xfrm>
            <a:off x="7315200" y="4206240"/>
            <a:ext cx="42516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Our setup reproduced the published MTEB scores (84.39 and 75.34).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Our fine-tune lost on dev (76.28 vs 79.41) and test, so the base model was kept.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Test data was never used for training or model choice.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57200" y="6401160"/>
            <a:ext cx="36576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hasCustomPrompt="1"/>
          </p:nvPr>
        </p:nvSpPr>
        <p:spPr>
          <a:xfrm>
            <a:off x="64008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6D28D9"/>
                </a:solidFill>
                <a:effectLst/>
                <a:uFillTx/>
                <a:latin typeface="Arial"/>
              </a:rPr>
              <a:t>QUERY PREPROCESSING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title" hasCustomPrompt="1"/>
          </p:nvPr>
        </p:nvSpPr>
        <p:spPr>
          <a:xfrm>
            <a:off x="640080" y="731520"/>
            <a:ext cx="108810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Plain problem text beat engineered query views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2" name="Chart 0"/>
          <p:cNvGraphicFramePr/>
          <p:nvPr/>
        </p:nvGraphicFramePr>
        <p:xfrm>
          <a:off x="640080" y="1737360"/>
          <a:ext cx="630900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3" name="views notes"/>
          <p:cNvSpPr/>
          <p:nvPr/>
        </p:nvSpPr>
        <p:spPr>
          <a:xfrm>
            <a:off x="7315200" y="1828800"/>
            <a:ext cx="425160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The pre/post pipeline splits each problem into views (story, core task, input/output spec) and blends their embeddings.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Adding the narrower views lowered the score, so the submission embeds the full statement only.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 optional post-step runs candidate solutions against the examples in the problem and promotes the ones that pass.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57200" y="6401160"/>
            <a:ext cx="36576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hasCustomPrompt="1"/>
          </p:nvPr>
        </p:nvSpPr>
        <p:spPr>
          <a:xfrm>
            <a:off x="64008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6D28D9"/>
                </a:solidFill>
                <a:effectLst/>
                <a:uFillTx/>
                <a:latin typeface="Arial"/>
              </a:rPr>
              <a:t>ARCHITECTURE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 hasCustomPrompt="1"/>
          </p:nvPr>
        </p:nvSpPr>
        <p:spPr>
          <a:xfrm>
            <a:off x="640080" y="731520"/>
            <a:ext cx="108810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Two paths, one model and one store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architecture frame"/>
          <p:cNvSpPr/>
          <p:nvPr/>
        </p:nvSpPr>
        <p:spPr>
          <a:xfrm>
            <a:off x="640080" y="1691640"/>
            <a:ext cx="7497720" cy="4434480"/>
          </a:xfrm>
          <a:prstGeom prst="roundRect">
            <a:avLst>
              <a:gd name="adj" fmla="val 2474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architecture backdrop"/>
          <p:cNvSpPr/>
          <p:nvPr/>
        </p:nvSpPr>
        <p:spPr>
          <a:xfrm>
            <a:off x="731520" y="1783080"/>
            <a:ext cx="7314840" cy="4251600"/>
          </a:xfrm>
          <a:prstGeom prst="roundRect">
            <a:avLst>
              <a:gd name="adj" fmla="val 1720"/>
            </a:avLst>
          </a:prstGeom>
          <a:solidFill>
            <a:srgbClr val="F5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architecture diagram" descr="preencoded.png"/>
          <p:cNvPicPr/>
          <p:nvPr/>
        </p:nvPicPr>
        <p:blipFill>
          <a:blip r:embed="rId1"/>
          <a:stretch/>
        </p:blipFill>
        <p:spPr>
          <a:xfrm>
            <a:off x="777240" y="1828800"/>
            <a:ext cx="7223400" cy="414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architecture notes"/>
          <p:cNvSpPr/>
          <p:nvPr/>
        </p:nvSpPr>
        <p:spPr>
          <a:xfrm>
            <a:off x="8412480" y="1783080"/>
            <a:ext cx="3154320" cy="438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Indexing: Git or folder → per-file blob hash → AST chunks (one per function) → embeddings for new chunks only.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Store: SQLite holds manifests, chunks, vectors and function lineages; NumPy does exact cosine search.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Query: a router picks one version or detects intent across all versions, then searches inside that version's mask.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Same weights on CPU and GPU, so switching device never invalidates an index.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457200" y="6401160"/>
            <a:ext cx="36576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hasCustomPrompt="1"/>
          </p:nvPr>
        </p:nvSpPr>
        <p:spPr>
          <a:xfrm>
            <a:off x="64008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6D28D9"/>
                </a:solidFill>
                <a:effectLst/>
                <a:uFillTx/>
                <a:latin typeface="Arial"/>
              </a:rPr>
              <a:t>P1 · RETRIEVAL ACROSS VERSIONS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title" hasCustomPrompt="1"/>
          </p:nvPr>
        </p:nvSpPr>
        <p:spPr>
          <a:xfrm>
            <a:off x="640080" y="731520"/>
            <a:ext cx="108810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A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new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versi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on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only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embe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ds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the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code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that 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chan</a:t>
            </a: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ged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4" name="versions table 1"/>
          <p:cNvGraphicFramePr/>
          <p:nvPr/>
        </p:nvGraphicFramePr>
        <p:xfrm>
          <a:off x="640080" y="1783080"/>
          <a:ext cx="5851800" cy="234756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463040"/>
                <a:gridCol w="1005840"/>
                <a:gridCol w="1097280"/>
              </a:tblGrid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63637E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Version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63637E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Chunks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63637E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Newly embedded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63637E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Reused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63637E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Time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v2.30.0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533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533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6.43 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v2.31.0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534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4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99.3%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0.13 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v2.32.0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558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88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84.2%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1.46 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v2.32.3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559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7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98.7%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14142B"/>
                          </a:solidFill>
                          <a:effectLst/>
                          <a:uFillTx/>
                          <a:latin typeface="Arial"/>
                          <a:ea typeface="Arial"/>
                        </a:rPr>
                        <a:t>0.22 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6480">
                      <a:solidFill>
                        <a:srgbClr val="D9D3F0"/>
                      </a:solidFill>
                      <a:prstDash val="solid"/>
                    </a:lnL>
                    <a:lnR w="6480">
                      <a:solidFill>
                        <a:srgbClr val="D9D3F0"/>
                      </a:solidFill>
                      <a:prstDash val="solid"/>
                    </a:lnR>
                    <a:lnT w="6480">
                      <a:solidFill>
                        <a:srgbClr val="D9D3F0"/>
                      </a:solidFill>
                      <a:prstDash val="solid"/>
                    </a:lnT>
                    <a:lnB w="6480">
                      <a:solidFill>
                        <a:srgbClr val="D9D3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5" name="table caption 1"/>
          <p:cNvSpPr/>
          <p:nvPr/>
        </p:nvSpPr>
        <p:spPr>
          <a:xfrm>
            <a:off x="640080" y="4251960"/>
            <a:ext cx="5851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psf/requests, four releases, RTX 4060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1 notes 1"/>
          <p:cNvSpPr/>
          <p:nvPr/>
        </p:nvSpPr>
        <p:spPr>
          <a:xfrm>
            <a:off x="6949440" y="1783080"/>
            <a:ext cx="46173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file is identified by its Git blob hash; unchanged files are skipped without parsing.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Each function is identified by a content hash; unchanged functions reuse their stored vector.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version is a manifest of chunk hashes. Searching it masks the vector matrix to exactly that manifest.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incremental backdrop 1"/>
          <p:cNvSpPr/>
          <p:nvPr/>
        </p:nvSpPr>
        <p:spPr>
          <a:xfrm>
            <a:off x="457200" y="4572000"/>
            <a:ext cx="11109600" cy="2057400"/>
          </a:xfrm>
          <a:prstGeom prst="roundRect">
            <a:avLst>
              <a:gd name="adj" fmla="val 5000"/>
            </a:avLst>
          </a:prstGeom>
          <a:solidFill>
            <a:srgbClr val="F5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incremental diagram 1" descr="preencoded.png"/>
          <p:cNvPicPr/>
          <p:nvPr/>
        </p:nvPicPr>
        <p:blipFill>
          <a:blip r:embed="rId1"/>
          <a:stretch/>
        </p:blipFill>
        <p:spPr>
          <a:xfrm>
            <a:off x="799920" y="4572000"/>
            <a:ext cx="6286320" cy="201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incremental caption 1"/>
          <p:cNvSpPr/>
          <p:nvPr/>
        </p:nvSpPr>
        <p:spPr>
          <a:xfrm>
            <a:off x="7315200" y="5120640"/>
            <a:ext cx="4023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4142B"/>
                </a:solidFill>
                <a:effectLst/>
                <a:uFillTx/>
                <a:latin typeface="Arial"/>
              </a:rPr>
              <a:t>Unit-test example: v2 edits one function, so only 1 of 4 chunks reaches the model.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hasCustomPrompt="1"/>
          </p:nvPr>
        </p:nvSpPr>
        <p:spPr>
          <a:xfrm>
            <a:off x="64008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6D28D9"/>
                </a:solidFill>
                <a:effectLst/>
                <a:uFillTx/>
                <a:latin typeface="Arial"/>
              </a:rPr>
              <a:t>BONUS · EVOLUTIONARY RETRIEVAL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title" hasCustomPrompt="1"/>
          </p:nvPr>
        </p:nvSpPr>
        <p:spPr>
          <a:xfrm>
            <a:off x="640080" y="731520"/>
            <a:ext cx="108810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Search the whole history of a function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bonus card 1"/>
          <p:cNvSpPr/>
          <p:nvPr/>
        </p:nvSpPr>
        <p:spPr>
          <a:xfrm>
            <a:off x="640080" y="1828800"/>
            <a:ext cx="10926720" cy="1234080"/>
          </a:xfrm>
          <a:prstGeom prst="roundRect">
            <a:avLst>
              <a:gd name="adj" fmla="val 8889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bonus number 1"/>
          <p:cNvSpPr/>
          <p:nvPr/>
        </p:nvSpPr>
        <p:spPr>
          <a:xfrm>
            <a:off x="914400" y="2084760"/>
            <a:ext cx="822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01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bonus head 1"/>
          <p:cNvSpPr/>
          <p:nvPr/>
        </p:nvSpPr>
        <p:spPr>
          <a:xfrm>
            <a:off x="1920240" y="205740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Lineages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bonus body 1"/>
          <p:cNvSpPr/>
          <p:nvPr/>
        </p:nvSpPr>
        <p:spPr>
          <a:xfrm>
            <a:off x="4572000" y="2057400"/>
            <a:ext cx="6766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Functions are linked across versions by path and name, followed through file renames, and matched by hash or embedding similarity when code moves.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bonus card 2"/>
          <p:cNvSpPr/>
          <p:nvPr/>
        </p:nvSpPr>
        <p:spPr>
          <a:xfrm>
            <a:off x="640080" y="3246120"/>
            <a:ext cx="10926720" cy="1234080"/>
          </a:xfrm>
          <a:prstGeom prst="roundRect">
            <a:avLst>
              <a:gd name="adj" fmla="val 8889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bonus number 2"/>
          <p:cNvSpPr/>
          <p:nvPr/>
        </p:nvSpPr>
        <p:spPr>
          <a:xfrm>
            <a:off x="914400" y="3502080"/>
            <a:ext cx="822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02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bonus head 2"/>
          <p:cNvSpPr/>
          <p:nvPr/>
        </p:nvSpPr>
        <p:spPr>
          <a:xfrm>
            <a:off x="1920240" y="34747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Intent routing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bonus body 2"/>
          <p:cNvSpPr/>
          <p:nvPr/>
        </p:nvSpPr>
        <p:spPr>
          <a:xfrm>
            <a:off x="4572000" y="3474720"/>
            <a:ext cx="6766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"parse_config in v1.2" searches that version; "when was the retry limit changed" finds the version where it changed; anything else ranks the latest code.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bonus card 3"/>
          <p:cNvSpPr/>
          <p:nvPr/>
        </p:nvSpPr>
        <p:spPr>
          <a:xfrm>
            <a:off x="640080" y="4663440"/>
            <a:ext cx="10926720" cy="1234080"/>
          </a:xfrm>
          <a:prstGeom prst="roundRect">
            <a:avLst>
              <a:gd name="adj" fmla="val 8889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bonus number 3"/>
          <p:cNvSpPr/>
          <p:nvPr/>
        </p:nvSpPr>
        <p:spPr>
          <a:xfrm>
            <a:off x="914400" y="4919400"/>
            <a:ext cx="822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03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bonus head 3"/>
          <p:cNvSpPr/>
          <p:nvPr/>
        </p:nvSpPr>
        <p:spPr>
          <a:xfrm>
            <a:off x="1920240" y="489204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Timeline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and diff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bonus body 3"/>
          <p:cNvSpPr/>
          <p:nvPr/>
        </p:nvSpPr>
        <p:spPr>
          <a:xfrm>
            <a:off x="4572000" y="4892040"/>
            <a:ext cx="6766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Each result shows the versions the function appears in, marks where it changed, and shows the diff for that change.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457200" y="6401160"/>
            <a:ext cx="36576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hasCustomPrompt="1"/>
          </p:nvPr>
        </p:nvSpPr>
        <p:spPr>
          <a:xfrm>
            <a:off x="64008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6D28D9"/>
                </a:solidFill>
                <a:effectLst/>
                <a:uFillTx/>
                <a:latin typeface="Arial"/>
              </a:rPr>
              <a:t>DESKTOP APPLICATION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title" hasCustomPrompt="1"/>
          </p:nvPr>
        </p:nvSpPr>
        <p:spPr>
          <a:xfrm>
            <a:off x="640080" y="731520"/>
            <a:ext cx="108810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Point it at a folder or a GitHub URL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feature card 1"/>
          <p:cNvSpPr/>
          <p:nvPr/>
        </p:nvSpPr>
        <p:spPr>
          <a:xfrm>
            <a:off x="640080" y="1828800"/>
            <a:ext cx="5394600" cy="1828440"/>
          </a:xfrm>
          <a:prstGeom prst="roundRect">
            <a:avLst>
              <a:gd name="adj" fmla="val 6000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feature head 1"/>
          <p:cNvSpPr/>
          <p:nvPr/>
        </p:nvSpPr>
        <p:spPr>
          <a:xfrm>
            <a:off x="960120" y="210312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Add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feature body 1"/>
          <p:cNvSpPr/>
          <p:nvPr/>
        </p:nvSpPr>
        <p:spPr>
          <a:xfrm>
            <a:off x="960120" y="2651760"/>
            <a:ext cx="4754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 local folder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(with a folder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picker) or a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Git HTTPS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link;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repositories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are cloned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and their tags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and branches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listed as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versions.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feature card 2"/>
          <p:cNvSpPr/>
          <p:nvPr/>
        </p:nvSpPr>
        <p:spPr>
          <a:xfrm>
            <a:off x="6172200" y="1828800"/>
            <a:ext cx="5394600" cy="1828440"/>
          </a:xfrm>
          <a:prstGeom prst="roundRect">
            <a:avLst>
              <a:gd name="adj" fmla="val 6000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feature head 2"/>
          <p:cNvSpPr/>
          <p:nvPr/>
        </p:nvSpPr>
        <p:spPr>
          <a:xfrm>
            <a:off x="6492240" y="210312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Index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feature body 2"/>
          <p:cNvSpPr/>
          <p:nvPr/>
        </p:nvSpPr>
        <p:spPr>
          <a:xfrm>
            <a:off x="6492240" y="2651760"/>
            <a:ext cx="4754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Tick the versions to index; the app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shows chunks embedded versus </a:t>
            </a: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reused for each one.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feature card 3"/>
          <p:cNvSpPr/>
          <p:nvPr/>
        </p:nvSpPr>
        <p:spPr>
          <a:xfrm>
            <a:off x="640080" y="3840480"/>
            <a:ext cx="5394600" cy="1828440"/>
          </a:xfrm>
          <a:prstGeom prst="roundRect">
            <a:avLst>
              <a:gd name="adj" fmla="val 6000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feature head 3"/>
          <p:cNvSpPr/>
          <p:nvPr/>
        </p:nvSpPr>
        <p:spPr>
          <a:xfrm>
            <a:off x="960120" y="411480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Search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feature body 3"/>
          <p:cNvSpPr/>
          <p:nvPr/>
        </p:nvSpPr>
        <p:spPr>
          <a:xfrm>
            <a:off x="960120" y="4663440"/>
            <a:ext cx="4754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Plain-language queries over one version or all versions, with timelines and diffs.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feature card 4"/>
          <p:cNvSpPr/>
          <p:nvPr/>
        </p:nvSpPr>
        <p:spPr>
          <a:xfrm>
            <a:off x="6172200" y="3840480"/>
            <a:ext cx="5394600" cy="1828440"/>
          </a:xfrm>
          <a:prstGeom prst="roundRect">
            <a:avLst>
              <a:gd name="adj" fmla="val 6000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feature head 4"/>
          <p:cNvSpPr/>
          <p:nvPr/>
        </p:nvSpPr>
        <p:spPr>
          <a:xfrm>
            <a:off x="6492240" y="411480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CPU / GPU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feature body 4"/>
          <p:cNvSpPr/>
          <p:nvPr/>
        </p:nvSpPr>
        <p:spPr>
          <a:xfrm>
            <a:off x="6492240" y="4663440"/>
            <a:ext cx="4754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One toggle switches device at runtime; indexes stay valid because the weights are the same.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app footnote"/>
          <p:cNvSpPr/>
          <p:nvPr/>
        </p:nvSpPr>
        <p:spPr>
          <a:xfrm>
            <a:off x="640080" y="5897880"/>
            <a:ext cx="109267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Python backend with a local HTTP API, pywebview (WebView2) window, black-and-white UI with overlay sidebars and macOS-style window controls. Also runs in a browser, from the CLI, or in Docker.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457200" y="6401160"/>
            <a:ext cx="36576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hasCustomPrompt="1"/>
          </p:nvPr>
        </p:nvSpPr>
        <p:spPr>
          <a:xfrm>
            <a:off x="64008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6D28D9"/>
                </a:solidFill>
                <a:effectLst/>
                <a:uFillTx/>
                <a:latin typeface="Arial"/>
              </a:rPr>
              <a:t>SCREENING SUBMISSION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title" hasCustomPrompt="1"/>
          </p:nvPr>
        </p:nvSpPr>
        <p:spPr>
          <a:xfrm>
            <a:off x="640080" y="731520"/>
            <a:ext cx="108810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From training data to the MTEB results file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submission backdrop"/>
          <p:cNvSpPr/>
          <p:nvPr/>
        </p:nvSpPr>
        <p:spPr>
          <a:xfrm>
            <a:off x="640080" y="1783080"/>
            <a:ext cx="10926720" cy="3702960"/>
          </a:xfrm>
          <a:prstGeom prst="roundRect">
            <a:avLst>
              <a:gd name="adj" fmla="val 1975"/>
            </a:avLst>
          </a:prstGeom>
          <a:solidFill>
            <a:srgbClr val="F5F2F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submission diagram" descr="preencoded.png"/>
          <p:cNvPicPr/>
          <p:nvPr/>
        </p:nvPicPr>
        <p:blipFill>
          <a:blip r:embed="rId1"/>
          <a:stretch/>
        </p:blipFill>
        <p:spPr>
          <a:xfrm>
            <a:off x="777240" y="1874520"/>
            <a:ext cx="10652400" cy="353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submission caption"/>
          <p:cNvSpPr/>
          <p:nvPr/>
        </p:nvSpPr>
        <p:spPr>
          <a:xfrm>
            <a:off x="640080" y="5669280"/>
            <a:ext cx="10926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PrePostPipelineEncoder (an MTEB AbsEncoder) wraps the chosen model and query preprocessing. The official run on CPU wrote results/appsretrieval_results.json: 84.03 NDCG@10 in 98 minutes.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57200" y="6401160"/>
            <a:ext cx="36576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hasCustomPrompt="1"/>
          </p:nvPr>
        </p:nvSpPr>
        <p:spPr>
          <a:xfrm>
            <a:off x="640080" y="411480"/>
            <a:ext cx="8229240" cy="319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21"/>
              </a:spcBef>
              <a:buNone/>
              <a:tabLst>
                <a:tab pos="0" algn="l"/>
              </a:tabLst>
            </a:pPr>
            <a:r>
              <a:rPr lang="en-US" sz="1100" b="0" u="none" spc="300" strike="noStrike">
                <a:solidFill>
                  <a:srgbClr val="6D28D9"/>
                </a:solidFill>
                <a:effectLst/>
                <a:uFillTx/>
                <a:latin typeface="Arial"/>
              </a:rPr>
              <a:t>WHAT WE LEARNED AND WHAT IS NEXT</a:t>
            </a:r>
            <a:endParaRPr lang="en-US" sz="11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title" hasCustomPrompt="1"/>
          </p:nvPr>
        </p:nvSpPr>
        <p:spPr>
          <a:xfrm>
            <a:off x="640080" y="731520"/>
            <a:ext cx="10881000" cy="822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00" b="1" u="none" strike="noStrike">
                <a:solidFill>
                  <a:srgbClr val="704EA6"/>
                </a:solidFill>
                <a:effectLst/>
                <a:uFillTx/>
                <a:latin typeface="Arial"/>
              </a:rPr>
              <a:t>Measure first: the base model beat our fine-tune</a:t>
            </a:r>
            <a:endParaRPr lang="en-US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learned card"/>
          <p:cNvSpPr/>
          <p:nvPr/>
        </p:nvSpPr>
        <p:spPr>
          <a:xfrm>
            <a:off x="640080" y="1828800"/>
            <a:ext cx="5348880" cy="4205880"/>
          </a:xfrm>
          <a:prstGeom prst="roundRect">
            <a:avLst>
              <a:gd name="adj" fmla="val 2609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learned head"/>
          <p:cNvSpPr/>
          <p:nvPr/>
        </p:nvSpPr>
        <p:spPr>
          <a:xfrm>
            <a:off x="960120" y="2057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Learned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learned list"/>
          <p:cNvSpPr/>
          <p:nvPr/>
        </p:nvSpPr>
        <p:spPr>
          <a:xfrm>
            <a:off x="960120" y="2651760"/>
            <a:ext cx="47545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Fine-tuning on about 1k examples lowered both dev and test scores; the held-out dev set caught this before submission.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Some mined hard negatives were near-duplicate problems, which likely acted as false negatives.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Recall@100 is 99.5%, so the remaining headroom is in ranking, not retrieval.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Content hashing makes version indexing almost free after the first version.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next card"/>
          <p:cNvSpPr/>
          <p:nvPr/>
        </p:nvSpPr>
        <p:spPr>
          <a:xfrm>
            <a:off x="6217920" y="1828800"/>
            <a:ext cx="5348880" cy="4205880"/>
          </a:xfrm>
          <a:prstGeom prst="roundRect">
            <a:avLst>
              <a:gd name="adj" fmla="val 2609"/>
            </a:avLst>
          </a:prstGeom>
          <a:solidFill>
            <a:srgbClr val="F5F2FD"/>
          </a:solidFill>
          <a:ln w="9525">
            <a:solidFill>
              <a:srgbClr val="D9D3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next head"/>
          <p:cNvSpPr/>
          <p:nvPr/>
        </p:nvSpPr>
        <p:spPr>
          <a:xfrm>
            <a:off x="6537960" y="205740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Next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next list"/>
          <p:cNvSpPr/>
          <p:nvPr/>
        </p:nvSpPr>
        <p:spPr>
          <a:xfrm>
            <a:off x="6537960" y="2651760"/>
            <a:ext cx="475452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A reranker that fits beside the embedder in 8 GB, to lift top-1 accuracy.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Gentler adaptation: LoRA, lower learning rate, de-duplicated negatives.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Down-weight test files in repository search.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4142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One-click Windows installer with bundled fonts.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457200" y="6400800"/>
            <a:ext cx="3657600" cy="2286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hasCustomPrompt="1"/>
          </p:nvPr>
        </p:nvSpPr>
        <p:spPr>
          <a:xfrm>
            <a:off x="640080" y="548640"/>
            <a:ext cx="10881000" cy="3654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241"/>
              </a:spcBef>
              <a:buNone/>
              <a:tabLst>
                <a:tab pos="0" algn="l"/>
              </a:tabLst>
            </a:pPr>
            <a:r>
              <a:rPr lang="en-US" sz="1200" b="0" u="none" spc="300" strike="noStrike">
                <a:solidFill>
                  <a:srgbClr val="6D28D9"/>
                </a:solidFill>
                <a:effectLst/>
                <a:uFillTx/>
                <a:latin typeface="Arial"/>
              </a:rPr>
              <a:t>THANK YOU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title" hasCustomPrompt="1"/>
          </p:nvPr>
        </p:nvSpPr>
        <p:spPr>
          <a:xfrm>
            <a:off x="640080" y="1371600"/>
            <a:ext cx="10881000" cy="2925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400" b="1" u="none" spc="-99" strike="noStrike">
                <a:solidFill>
                  <a:srgbClr val="704EA6"/>
                </a:solidFill>
                <a:effectLst/>
                <a:uFillTx/>
                <a:latin typeface="Arial"/>
              </a:rPr>
              <a:t>CODE, RESULTS, DEMO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hasCustomPrompt="1"/>
          </p:nvPr>
        </p:nvSpPr>
        <p:spPr>
          <a:xfrm>
            <a:off x="640080" y="4754880"/>
            <a:ext cx="6857640" cy="1279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1" u="sng" strike="noStrike">
                <a:solidFill>
                  <a:schemeClr val="dk2"/>
                </a:solidFill>
                <a:effectLst/>
                <a:uFillTx/>
                <a:latin typeface="Arial"/>
              </a:rPr>
              <a:t>Github Link:</a:t>
            </a: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github.com/SOMASEKAR17/CodeRetriever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en-US" sz="1600" b="1" u="sng" strike="noStrike">
                <a:solidFill>
                  <a:schemeClr val="dk2"/>
                </a:solidFill>
                <a:effectLst/>
                <a:uFillTx/>
                <a:latin typeface="Arial"/>
              </a:rPr>
              <a:t>Demo video link:</a:t>
            </a:r>
            <a:r>
              <a:rPr lang="en-US" sz="1600" b="0" u="none" strike="noStrike">
                <a:solidFill>
                  <a:schemeClr val="dk2"/>
                </a:solidFill>
                <a:effectLst/>
                <a:uFillTx/>
                <a:latin typeface="Arial"/>
              </a:rPr>
              <a:t> https://drive.google.com/file/d/1BGbeVOBguLOAQcQ4Rx4BPZ16zKBsj71o/view?usp=sharing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odeRetriever Mono">
  <a:themeElements>
    <a:clrScheme name="PRISM Purple">
      <a:dk1>
        <a:srgbClr val="14142B"/>
      </a:dk1>
      <a:lt1>
        <a:srgbClr val="FFFFFF"/>
      </a:lt1>
      <a:dk2>
        <a:srgbClr val="63637E"/>
      </a:dk2>
      <a:lt2>
        <a:srgbClr val="F5F2FD"/>
      </a:lt2>
      <a:accent1>
        <a:srgbClr val="6D28D9"/>
      </a:accent1>
      <a:accent2>
        <a:srgbClr val="704EA6"/>
      </a:accent2>
      <a:accent3>
        <a:srgbClr val="9F8FD0"/>
      </a:accent3>
      <a:accent4>
        <a:srgbClr val="D9D3F0"/>
      </a:accent4>
      <a:accent5>
        <a:srgbClr val="B8A6E8"/>
      </a:accent5>
      <a:accent6>
        <a:srgbClr val="14142B"/>
      </a:accent6>
      <a:hlink>
        <a:srgbClr val="6D28D9"/>
      </a:hlink>
      <a:folHlink>
        <a:srgbClr val="704EA6"/>
      </a:folHlink>
    </a:clrScheme>
    <a:fontScheme name="CodeRetriever Mono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LibreOffice/26.2.5.2$Linux_X86_64 LibreOffice_project/6d2b0d33fb0f5da53a12f98bed3e9973e56ff1f0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2026-10-03T11:38:25Z</dcterms:created>
  <dc:creator>SOMASEKAR17</dc:creator>
  <dc:description/>
  <dc:language>en-US</dc:language>
  <cp:lastModifiedBy/>
  <dcterms:modified xsi:type="dcterms:W3CDTF">2026-10-04T20:06:52Z</dcterms:modified>
  <cp:revision>2</cp:revision>
  <dc:subject>PptxGenJS Presentation</dc:subject>
  <dc:title>CodeRetriever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