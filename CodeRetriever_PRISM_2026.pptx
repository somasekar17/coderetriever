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552d1b4-baf2-7644-52b8-a6aa967bd1e6}">
          <p14:sldIdLst>
            <p14:sldId id="256"/>
            <p14:sldId id="257"/>
            <p14:sldId id="258"/>
          </p14:sldIdLst>
        </p14:section>
        <p14:section name="Approach" id="{05fc46e3-7b9f-7afd-0d84-30a285a15199}">
          <p14:sldIdLst>
            <p14:sldId id="259"/>
            <p14:sldId id="260"/>
          </p14:sldIdLst>
        </p14:section>
        <p14:section name="Architecture" id="{5b1b0b9d-70d2-10a0-f895-0783fc38b683}">
          <p14:sldIdLst>
            <p14:sldId id="261"/>
            <p14:sldId id="262"/>
            <p14:sldId id="263"/>
          </p14:sldIdLst>
        </p14:section>
        <p14:section name="Product" id="{9ada8334-1003-881e-23bd-7ee2f04ff2fc}">
          <p14:sldIdLst>
            <p14:sldId id="264"/>
            <p14:sldId id="265"/>
          </p14:sldIdLst>
        </p14:section>
        <p14:section name="Wrap-up" id="{b900207f-35d7-d09a-acdf-87d1d6081d1e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2F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2F2F0"/>
                </a:solidFill>
                <a:latin typeface="+mn-lt"/>
              </a:rPr>
              <a:t>NDCG@10 on AppsRetrieval test (RTX 4060, bf16)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F2F2F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2F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F2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5A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5A5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EmbeddingGemma-300m</c:v>
                  </c:pt>
                  <c:pt idx="1">
                    <c:v>Fine-tuned (ours, v1)</c:v>
                  </c:pt>
                  <c:pt idx="2">
                    <c:v>Qwen3-Embedding-0.6B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84.05</c:v>
                </c:pt>
                <c:pt idx="1">
                  <c:v>82.04</c:v>
                </c:pt>
                <c:pt idx="2">
                  <c:v>75.92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2F2F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8"/>
          <c:min val="70"/>
        </c:scaling>
        <c:delete val="1"/>
        <c:axPos val="b"/>
        <c:majorGridlines>
          <c:spPr>
            <a:ln w="6350" cap="flat">
              <a:solidFill>
                <a:srgbClr val="26262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2F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2F2F0"/>
                </a:solidFill>
                <a:latin typeface="+mn-lt"/>
              </a:rPr>
              <a:t>NDCG@10, base model, RTX 4060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F2F2F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2F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F2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5A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5A5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Full statement</c:v>
                  </c:pt>
                  <c:pt idx="1">
                    <c:v>+ core view (0.5)</c:v>
                  </c:pt>
                  <c:pt idx="2">
                    <c:v>+ core + I/O view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84.05</c:v>
                </c:pt>
                <c:pt idx="1">
                  <c:v>82.1</c:v>
                </c:pt>
                <c:pt idx="2">
                  <c:v>82.68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2F2F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6"/>
          <c:min val="78"/>
        </c:scaling>
        <c:delete val="1"/>
        <c:axPos val="l"/>
        <c:majorGridlines>
          <c:spPr>
            <a:ln w="6350" cap="flat">
              <a:solidFill>
                <a:srgbClr val="26262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371600"/>
            <a:ext cx="1088136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spc="-1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754880"/>
            <a:ext cx="6858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3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CodeRetriever · Samsung PRISM GenAI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bg2"/>
                </a:solidFill>
              </a:rPr>
              <a:t>SAMSUNG PRISM GENAI HACKATHON 2026 · THEME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37160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600" spc="-100" kern="0" dirty="0">
                <a:solidFill>
                  <a:schemeClr val="bg1"/>
                </a:solidFill>
              </a:rPr>
              <a:t>CODERETRIEVER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75488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Version-aware semantic code search that runs on a laptop CPU, with an optional GPU mode and a desktop app for any folder or GitHub repository.</a:t>
            </a:r>
            <a:endParaRPr lang="en-US" sz="1600" dirty="0"/>
          </a:p>
        </p:txBody>
      </p:sp>
      <p:sp>
        <p:nvSpPr>
          <p:cNvPr id="5" name="team"/>
          <p:cNvSpPr txBox="1"/>
          <p:nvPr/>
        </p:nvSpPr>
        <p:spPr>
          <a:xfrm>
            <a:off x="64008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Team: [Team name]  ·  Members: [Names]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Find code by what it does, across every version</a:t>
            </a:r>
            <a:endParaRPr lang="en-US" sz="3600" dirty="0"/>
          </a:p>
        </p:txBody>
      </p:sp>
      <p:sp>
        <p:nvSpPr>
          <p:cNvPr id="4" name="problem card 1"/>
          <p:cNvSpPr/>
          <p:nvPr/>
        </p:nvSpPr>
        <p:spPr>
          <a:xfrm>
            <a:off x="64008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problem tag 1"/>
          <p:cNvSpPr txBox="1"/>
          <p:nvPr/>
        </p:nvSpPr>
        <p:spPr>
          <a:xfrm>
            <a:off x="96012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P0</a:t>
            </a:r>
            <a:endParaRPr lang="en-US" sz="4000" dirty="0"/>
          </a:p>
        </p:txBody>
      </p:sp>
      <p:sp>
        <p:nvSpPr>
          <p:cNvPr id="6" name="problem head 1"/>
          <p:cNvSpPr txBox="1"/>
          <p:nvPr/>
        </p:nvSpPr>
        <p:spPr>
          <a:xfrm>
            <a:off x="96012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Retrieval accuracy</a:t>
            </a:r>
            <a:endParaRPr lang="en-US" sz="1800" dirty="0"/>
          </a:p>
        </p:txBody>
      </p:sp>
      <p:sp>
        <p:nvSpPr>
          <p:cNvPr id="7" name="problem body 1"/>
          <p:cNvSpPr txBox="1"/>
          <p:nvPr/>
        </p:nvSpPr>
        <p:spPr>
          <a:xfrm>
            <a:off x="960120" y="370332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Given a programming problem in natural language, rank the correct solution first among 8,765 candidates. Scored by NDCG@10 and MRR on CoIR AppsRetrieval via MTEB, CPU first.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434340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" name="problem tag 2"/>
          <p:cNvSpPr txBox="1"/>
          <p:nvPr/>
        </p:nvSpPr>
        <p:spPr>
          <a:xfrm>
            <a:off x="466344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P1</a:t>
            </a:r>
            <a:endParaRPr lang="en-US" sz="4000" dirty="0"/>
          </a:p>
        </p:txBody>
      </p:sp>
      <p:sp>
        <p:nvSpPr>
          <p:cNvPr id="10" name="problem head 2"/>
          <p:cNvSpPr txBox="1"/>
          <p:nvPr/>
        </p:nvSpPr>
        <p:spPr>
          <a:xfrm>
            <a:off x="466344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Retrieval across versions</a:t>
            </a:r>
            <a:endParaRPr lang="en-US" sz="1800" dirty="0"/>
          </a:p>
        </p:txBody>
      </p:sp>
      <p:sp>
        <p:nvSpPr>
          <p:cNvPr id="11" name="problem body 2"/>
          <p:cNvSpPr txBox="1"/>
          <p:nvPr/>
        </p:nvSpPr>
        <p:spPr>
          <a:xfrm>
            <a:off x="4663440" y="370332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Search any release of a codebase, and rebuild the index quickly when a new version arrives.</a:t>
            </a:r>
            <a:endParaRPr lang="en-US" sz="1400" dirty="0"/>
          </a:p>
        </p:txBody>
      </p:sp>
      <p:sp>
        <p:nvSpPr>
          <p:cNvPr id="12" name="problem card 3"/>
          <p:cNvSpPr/>
          <p:nvPr/>
        </p:nvSpPr>
        <p:spPr>
          <a:xfrm>
            <a:off x="804672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3" name="problem tag 3"/>
          <p:cNvSpPr txBox="1"/>
          <p:nvPr/>
        </p:nvSpPr>
        <p:spPr>
          <a:xfrm>
            <a:off x="83667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Bonus</a:t>
            </a:r>
            <a:endParaRPr lang="en-US" sz="4000" dirty="0"/>
          </a:p>
        </p:txBody>
      </p:sp>
      <p:sp>
        <p:nvSpPr>
          <p:cNvPr id="14" name="problem head 3"/>
          <p:cNvSpPr txBox="1"/>
          <p:nvPr/>
        </p:nvSpPr>
        <p:spPr>
          <a:xfrm>
            <a:off x="836676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Evolutionary retrieval</a:t>
            </a:r>
            <a:endParaRPr lang="en-US" sz="1800" dirty="0"/>
          </a:p>
        </p:txBody>
      </p:sp>
      <p:sp>
        <p:nvSpPr>
          <p:cNvPr id="15" name="problem body 3"/>
          <p:cNvSpPr txBox="1"/>
          <p:nvPr/>
        </p:nvSpPr>
        <p:spPr>
          <a:xfrm>
            <a:off x="8366760" y="370332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Answer questions across all versions at once: where a function lives now, and when and how it changed.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RESULTS AT A GLANCE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Strong accuracy on CPU, near-instant re-indexing</a:t>
            </a:r>
            <a:endParaRPr lang="en-US" sz="3600" dirty="0"/>
          </a:p>
        </p:txBody>
      </p:sp>
      <p:sp>
        <p:nvSpPr>
          <p:cNvPr id="4" name="stat ndcg value"/>
          <p:cNvSpPr txBox="1"/>
          <p:nvPr/>
        </p:nvSpPr>
        <p:spPr>
          <a:xfrm>
            <a:off x="640080" y="2103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bg1"/>
                </a:solidFill>
              </a:rPr>
              <a:t>84.03</a:t>
            </a:r>
            <a:endParaRPr lang="en-US" sz="5400" dirty="0"/>
          </a:p>
        </p:txBody>
      </p:sp>
      <p:sp>
        <p:nvSpPr>
          <p:cNvPr id="5" name="stat ndcg label"/>
          <p:cNvSpPr txBox="1"/>
          <p:nvPr/>
        </p:nvSpPr>
        <p:spPr>
          <a:xfrm>
            <a:off x="64008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NDCG@10 on AppsRetrieval test, CPU fp32 (submission run)</a:t>
            </a:r>
            <a:endParaRPr lang="en-US" sz="1300" dirty="0"/>
          </a:p>
        </p:txBody>
      </p:sp>
      <p:sp>
        <p:nvSpPr>
          <p:cNvPr id="6" name="stat mrr value"/>
          <p:cNvSpPr txBox="1"/>
          <p:nvPr/>
        </p:nvSpPr>
        <p:spPr>
          <a:xfrm>
            <a:off x="3429000" y="2103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bg1"/>
                </a:solidFill>
              </a:rPr>
              <a:t>80.70</a:t>
            </a:r>
            <a:endParaRPr lang="en-US" sz="5400" dirty="0"/>
          </a:p>
        </p:txBody>
      </p:sp>
      <p:sp>
        <p:nvSpPr>
          <p:cNvPr id="7" name="stat mrr label"/>
          <p:cNvSpPr txBox="1"/>
          <p:nvPr/>
        </p:nvSpPr>
        <p:spPr>
          <a:xfrm>
            <a:off x="342900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MRR@10 on the same run</a:t>
            </a:r>
            <a:endParaRPr lang="en-US" sz="1300" dirty="0"/>
          </a:p>
        </p:txBody>
      </p:sp>
      <p:sp>
        <p:nvSpPr>
          <p:cNvPr id="8" name="stat recall value"/>
          <p:cNvSpPr txBox="1"/>
          <p:nvPr/>
        </p:nvSpPr>
        <p:spPr>
          <a:xfrm>
            <a:off x="6217920" y="2103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bg1"/>
                </a:solidFill>
              </a:rPr>
              <a:t>99.5%</a:t>
            </a:r>
            <a:endParaRPr lang="en-US" sz="5400" dirty="0"/>
          </a:p>
        </p:txBody>
      </p:sp>
      <p:sp>
        <p:nvSpPr>
          <p:cNvPr id="9" name="stat recall label"/>
          <p:cNvSpPr txBox="1"/>
          <p:nvPr/>
        </p:nvSpPr>
        <p:spPr>
          <a:xfrm>
            <a:off x="621792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Recall@100: the right solution is almost always in the top 100</a:t>
            </a:r>
            <a:endParaRPr lang="en-US" sz="1300" dirty="0"/>
          </a:p>
        </p:txBody>
      </p:sp>
      <p:sp>
        <p:nvSpPr>
          <p:cNvPr id="10" name="stat reindex value"/>
          <p:cNvSpPr txBox="1"/>
          <p:nvPr/>
        </p:nvSpPr>
        <p:spPr>
          <a:xfrm>
            <a:off x="9006840" y="2103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bg1"/>
                </a:solidFill>
              </a:rPr>
              <a:t>10.7×</a:t>
            </a:r>
            <a:endParaRPr lang="en-US" sz="5400" dirty="0"/>
          </a:p>
        </p:txBody>
      </p:sp>
      <p:sp>
        <p:nvSpPr>
          <p:cNvPr id="11" name="stat reindex label"/>
          <p:cNvSpPr txBox="1"/>
          <p:nvPr/>
        </p:nvSpPr>
        <p:spPr>
          <a:xfrm>
            <a:off x="900684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Faster average re-index for a new version (psf/requests)</a:t>
            </a:r>
            <a:endParaRPr lang="en-US" sz="1300" dirty="0"/>
          </a:p>
        </p:txBody>
      </p:sp>
      <p:sp>
        <p:nvSpPr>
          <p:cNvPr id="12" name="results note card"/>
          <p:cNvSpPr/>
          <p:nvPr/>
        </p:nvSpPr>
        <p:spPr>
          <a:xfrm>
            <a:off x="640080" y="4297680"/>
            <a:ext cx="10927080" cy="146304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3" name="results note"/>
          <p:cNvSpPr txBox="1"/>
          <p:nvPr/>
        </p:nvSpPr>
        <p:spPr>
          <a:xfrm>
            <a:off x="960120" y="45720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CPU and GPU give the same score to within 0.02 NDCG@10, so the CPU-first submission loses nothing. Searches over an indexed repository answer in about 80–130 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MODEL SELECTION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Base EmbeddingGemma won every comparison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odel notes"/>
          <p:cNvSpPr txBox="1"/>
          <p:nvPr/>
        </p:nvSpPr>
        <p:spPr>
          <a:xfrm>
            <a:off x="7315200" y="1828800"/>
            <a:ext cx="4251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Benchmarked two strong small embedding models; our setup reproduced the published MTEB scores (84.39 and 75.34).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Fine-tuned EmbeddingGemma on the APPS train split with mined hard negatives (1,079 tuples, 161 min on the laptop GPU).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The fine-tune lost on the held-out dev set (76.28 vs 79.41) and on test, so the base model was kept.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Test data was never used for training or for choosing the model.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QUERY PREPROCESSING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Plain problem text beat engineered query views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views notes"/>
          <p:cNvSpPr txBox="1"/>
          <p:nvPr/>
        </p:nvSpPr>
        <p:spPr>
          <a:xfrm>
            <a:off x="7315200" y="1828800"/>
            <a:ext cx="4251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The pre/post pipeline splits each problem into views (story, core task, input/output spec) and blends their embeddings.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Adding the narrower views lowered the score, so the submission embeds the full statement only.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An optional post-step runs candidate solutions against the examples in the problem and promotes the ones that pass.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Two paths, one model and one store</a:t>
            </a:r>
            <a:endParaRPr lang="en-US" sz="3600" dirty="0"/>
          </a:p>
        </p:txBody>
      </p:sp>
      <p:sp>
        <p:nvSpPr>
          <p:cNvPr id="4" name="architecture frame"/>
          <p:cNvSpPr/>
          <p:nvPr/>
        </p:nvSpPr>
        <p:spPr>
          <a:xfrm>
            <a:off x="640080" y="1691640"/>
            <a:ext cx="7498080" cy="4434840"/>
          </a:xfrm>
          <a:prstGeom prst="roundRect">
            <a:avLst>
              <a:gd name="adj" fmla="val 2474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architecture backdrop"/>
          <p:cNvSpPr/>
          <p:nvPr/>
        </p:nvSpPr>
        <p:spPr>
          <a:xfrm>
            <a:off x="731520" y="1783080"/>
            <a:ext cx="7315200" cy="4251960"/>
          </a:xfrm>
          <a:prstGeom prst="roundRect">
            <a:avLst>
              <a:gd name="adj" fmla="val 1720"/>
            </a:avLst>
          </a:prstGeom>
          <a:solidFill>
            <a:srgbClr val="FBF6F8"/>
          </a:solidFill>
          <a:ln/>
        </p:spPr>
      </p:sp>
      <p:pic>
        <p:nvPicPr>
          <p:cNvPr id="6" name="architecture diagra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7223760" cy="4142232"/>
          </a:xfrm>
          <a:prstGeom prst="rect">
            <a:avLst/>
          </a:prstGeom>
        </p:spPr>
      </p:pic>
      <p:sp>
        <p:nvSpPr>
          <p:cNvPr id="7" name="architecture notes"/>
          <p:cNvSpPr txBox="1"/>
          <p:nvPr/>
        </p:nvSpPr>
        <p:spPr>
          <a:xfrm>
            <a:off x="8412480" y="1783080"/>
            <a:ext cx="3154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Indexing: Git or folder → per-file blob hash → AST chunks (one per function) → embeddings for new chunks only.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Store: SQLite holds manifests, chunks, vectors and function lineages; NumPy does exact cosine search.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Query: a router picks one version or detects intent across all versions, then searches inside that version's mask.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Same weights on CPU and GPU, so switching device never invalidates an index.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P1 · RETRIEVAL ACROSS VERSIONS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A new version only embeds the code that changed</a:t>
            </a:r>
            <a:endParaRPr lang="en-US" sz="3600" dirty="0"/>
          </a:p>
        </p:txBody>
      </p:sp>
      <p:graphicFrame>
        <p:nvGraphicFramePr>
          <p:cNvPr id="8" name="vers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852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463040"/>
                <a:gridCol w="100584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8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8C8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Chunks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8C8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Newly embedded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8C8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8C8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v2.30.0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6.43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v2.31.0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v2.32.0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v2.32.3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2F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able caption"/>
          <p:cNvSpPr txBox="1"/>
          <p:nvPr/>
        </p:nvSpPr>
        <p:spPr>
          <a:xfrm>
            <a:off x="640080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psf/requests, four releases, RTX 4060</a:t>
            </a:r>
            <a:endParaRPr lang="en-US" sz="1100" dirty="0"/>
          </a:p>
        </p:txBody>
      </p:sp>
      <p:sp>
        <p:nvSpPr>
          <p:cNvPr id="6" name="p1 notes"/>
          <p:cNvSpPr txBox="1"/>
          <p:nvPr/>
        </p:nvSpPr>
        <p:spPr>
          <a:xfrm>
            <a:off x="6949440" y="17830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Each file is identified by its Git blob hash; unchanged files are skipped without parsing.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Each function is identified by a content hash; unchanged functions reuse their stored vector.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version is a manifest of chunk hashes. Searching it masks the vector matrix to exactly that manifest.</a:t>
            </a:r>
            <a:endParaRPr lang="en-US" sz="1500" dirty="0"/>
          </a:p>
        </p:txBody>
      </p:sp>
      <p:sp>
        <p:nvSpPr>
          <p:cNvPr id="7" name="incremental backdrop"/>
          <p:cNvSpPr/>
          <p:nvPr/>
        </p:nvSpPr>
        <p:spPr>
          <a:xfrm>
            <a:off x="640080" y="4709160"/>
            <a:ext cx="10927080" cy="1463040"/>
          </a:xfrm>
          <a:prstGeom prst="roundRect">
            <a:avLst>
              <a:gd name="adj" fmla="val 5000"/>
            </a:avLst>
          </a:prstGeom>
          <a:solidFill>
            <a:srgbClr val="FBF6F8"/>
          </a:solidFill>
          <a:ln/>
        </p:spPr>
      </p:sp>
      <p:pic>
        <p:nvPicPr>
          <p:cNvPr id="8" name="incremental diagra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754880"/>
            <a:ext cx="4343400" cy="1389888"/>
          </a:xfrm>
          <a:prstGeom prst="rect">
            <a:avLst/>
          </a:prstGeom>
        </p:spPr>
      </p:pic>
      <p:sp>
        <p:nvSpPr>
          <p:cNvPr id="9" name="incremental caption"/>
          <p:cNvSpPr txBox="1"/>
          <p:nvPr/>
        </p:nvSpPr>
        <p:spPr>
          <a:xfrm>
            <a:off x="7315200" y="51206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621"/>
                </a:solidFill>
              </a:rPr>
              <a:t>Unit-test example: v2 edits one function, so only 1 of 4 chunks reaches the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BONUS · EVOLUTIONARY RETRIEVAL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Search the whole history of a function</a:t>
            </a:r>
            <a:endParaRPr lang="en-US" sz="3600" dirty="0"/>
          </a:p>
        </p:txBody>
      </p:sp>
      <p:sp>
        <p:nvSpPr>
          <p:cNvPr id="4" name="bonus card 1"/>
          <p:cNvSpPr/>
          <p:nvPr/>
        </p:nvSpPr>
        <p:spPr>
          <a:xfrm>
            <a:off x="640080" y="18288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bonus number 1"/>
          <p:cNvSpPr txBox="1"/>
          <p:nvPr/>
        </p:nvSpPr>
        <p:spPr>
          <a:xfrm>
            <a:off x="914400" y="20848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bg2"/>
                </a:solidFill>
              </a:rPr>
              <a:t>01</a:t>
            </a:r>
            <a:endParaRPr lang="en-US" sz="3400" dirty="0"/>
          </a:p>
        </p:txBody>
      </p:sp>
      <p:sp>
        <p:nvSpPr>
          <p:cNvPr id="6" name="bonus head 1"/>
          <p:cNvSpPr txBox="1"/>
          <p:nvPr/>
        </p:nvSpPr>
        <p:spPr>
          <a:xfrm>
            <a:off x="192024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Lineages</a:t>
            </a:r>
            <a:endParaRPr lang="en-US" sz="1800" dirty="0"/>
          </a:p>
        </p:txBody>
      </p:sp>
      <p:sp>
        <p:nvSpPr>
          <p:cNvPr id="7" name="bonus body 1"/>
          <p:cNvSpPr txBox="1"/>
          <p:nvPr/>
        </p:nvSpPr>
        <p:spPr>
          <a:xfrm>
            <a:off x="4572000" y="20574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Functions are linked across versions by path and name, followed through file renames, and matched by hash or embedding similarity when code moves.</a:t>
            </a:r>
            <a:endParaRPr lang="en-US" sz="1400" dirty="0"/>
          </a:p>
        </p:txBody>
      </p:sp>
      <p:sp>
        <p:nvSpPr>
          <p:cNvPr id="8" name="bonus card 2"/>
          <p:cNvSpPr/>
          <p:nvPr/>
        </p:nvSpPr>
        <p:spPr>
          <a:xfrm>
            <a:off x="640080" y="324612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" name="bonus number 2"/>
          <p:cNvSpPr txBox="1"/>
          <p:nvPr/>
        </p:nvSpPr>
        <p:spPr>
          <a:xfrm>
            <a:off x="914400" y="35021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bg2"/>
                </a:solidFill>
              </a:rPr>
              <a:t>02</a:t>
            </a:r>
            <a:endParaRPr lang="en-US" sz="3400" dirty="0"/>
          </a:p>
        </p:txBody>
      </p:sp>
      <p:sp>
        <p:nvSpPr>
          <p:cNvPr id="10" name="bonus head 2"/>
          <p:cNvSpPr txBox="1"/>
          <p:nvPr/>
        </p:nvSpPr>
        <p:spPr>
          <a:xfrm>
            <a:off x="1920240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Intent routing</a:t>
            </a:r>
            <a:endParaRPr lang="en-US" sz="1800" dirty="0"/>
          </a:p>
        </p:txBody>
      </p:sp>
      <p:sp>
        <p:nvSpPr>
          <p:cNvPr id="11" name="bonus body 2"/>
          <p:cNvSpPr txBox="1"/>
          <p:nvPr/>
        </p:nvSpPr>
        <p:spPr>
          <a:xfrm>
            <a:off x="4572000" y="34747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"parse_config in v1.2" searches that version; "when was the retry limit changed" finds the version where it changed; anything else ranks the latest code.</a:t>
            </a:r>
            <a:endParaRPr lang="en-US" sz="1400" dirty="0"/>
          </a:p>
        </p:txBody>
      </p:sp>
      <p:sp>
        <p:nvSpPr>
          <p:cNvPr id="12" name="bonus card 3"/>
          <p:cNvSpPr/>
          <p:nvPr/>
        </p:nvSpPr>
        <p:spPr>
          <a:xfrm>
            <a:off x="640080" y="466344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3" name="bonus number 3"/>
          <p:cNvSpPr txBox="1"/>
          <p:nvPr/>
        </p:nvSpPr>
        <p:spPr>
          <a:xfrm>
            <a:off x="914400" y="491947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bg2"/>
                </a:solidFill>
              </a:rPr>
              <a:t>03</a:t>
            </a:r>
            <a:endParaRPr lang="en-US" sz="3400" dirty="0"/>
          </a:p>
        </p:txBody>
      </p:sp>
      <p:sp>
        <p:nvSpPr>
          <p:cNvPr id="14" name="bonus head 3"/>
          <p:cNvSpPr txBox="1"/>
          <p:nvPr/>
        </p:nvSpPr>
        <p:spPr>
          <a:xfrm>
            <a:off x="1920240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Timeline and diff</a:t>
            </a:r>
            <a:endParaRPr lang="en-US" sz="1800" dirty="0"/>
          </a:p>
        </p:txBody>
      </p:sp>
      <p:sp>
        <p:nvSpPr>
          <p:cNvPr id="15" name="bonus body 3"/>
          <p:cNvSpPr txBox="1"/>
          <p:nvPr/>
        </p:nvSpPr>
        <p:spPr>
          <a:xfrm>
            <a:off x="4572000" y="48920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Each result shows the versions the function appears in, marks where it changed, and shows the diff for that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DESKTOP APPLICATION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Point it at a folder or a GitHub URL</a:t>
            </a:r>
            <a:endParaRPr lang="en-US" sz="3600" dirty="0"/>
          </a:p>
        </p:txBody>
      </p:sp>
      <p:sp>
        <p:nvSpPr>
          <p:cNvPr id="4" name="feature card 1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feature head 1"/>
          <p:cNvSpPr txBox="1"/>
          <p:nvPr/>
        </p:nvSpPr>
        <p:spPr>
          <a:xfrm>
            <a:off x="96012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Add</a:t>
            </a:r>
            <a:endParaRPr lang="en-US" sz="2000" dirty="0"/>
          </a:p>
        </p:txBody>
      </p:sp>
      <p:sp>
        <p:nvSpPr>
          <p:cNvPr id="6" name="feature body 1"/>
          <p:cNvSpPr txBox="1"/>
          <p:nvPr/>
        </p:nvSpPr>
        <p:spPr>
          <a:xfrm>
            <a:off x="96012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local folder (with a folder picker) or a Git HTTPS link; repositories are cloned and their tags and branches listed as versions.</a:t>
            </a:r>
            <a:endParaRPr lang="en-US" sz="1400" dirty="0"/>
          </a:p>
        </p:txBody>
      </p:sp>
      <p:sp>
        <p:nvSpPr>
          <p:cNvPr id="7" name="feature card 2"/>
          <p:cNvSpPr/>
          <p:nvPr/>
        </p:nvSpPr>
        <p:spPr>
          <a:xfrm>
            <a:off x="617220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" name="feature head 2"/>
          <p:cNvSpPr txBox="1"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Index</a:t>
            </a:r>
            <a:endParaRPr lang="en-US" sz="2000" dirty="0"/>
          </a:p>
        </p:txBody>
      </p:sp>
      <p:sp>
        <p:nvSpPr>
          <p:cNvPr id="9" name="feature body 2"/>
          <p:cNvSpPr txBox="1"/>
          <p:nvPr/>
        </p:nvSpPr>
        <p:spPr>
          <a:xfrm>
            <a:off x="649224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Tick the versions to index; the app shows chunks embedded versus reused for each one.</a:t>
            </a:r>
            <a:endParaRPr lang="en-US" sz="1400" dirty="0"/>
          </a:p>
        </p:txBody>
      </p:sp>
      <p:sp>
        <p:nvSpPr>
          <p:cNvPr id="10" name="feature card 3"/>
          <p:cNvSpPr/>
          <p:nvPr/>
        </p:nvSpPr>
        <p:spPr>
          <a:xfrm>
            <a:off x="640080" y="3840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feature head 3"/>
          <p:cNvSpPr txBox="1"/>
          <p:nvPr/>
        </p:nvSpPr>
        <p:spPr>
          <a:xfrm>
            <a:off x="96012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Search</a:t>
            </a:r>
            <a:endParaRPr lang="en-US" sz="2000" dirty="0"/>
          </a:p>
        </p:txBody>
      </p:sp>
      <p:sp>
        <p:nvSpPr>
          <p:cNvPr id="12" name="feature body 3"/>
          <p:cNvSpPr txBox="1"/>
          <p:nvPr/>
        </p:nvSpPr>
        <p:spPr>
          <a:xfrm>
            <a:off x="960120" y="4663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Plain-language queries over one version or all versions, with timelines and diffs.</a:t>
            </a:r>
            <a:endParaRPr lang="en-US" sz="1400" dirty="0"/>
          </a:p>
        </p:txBody>
      </p:sp>
      <p:sp>
        <p:nvSpPr>
          <p:cNvPr id="13" name="feature card 4"/>
          <p:cNvSpPr/>
          <p:nvPr/>
        </p:nvSpPr>
        <p:spPr>
          <a:xfrm>
            <a:off x="6172200" y="3840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4" name="feature head 4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CPU / GPU</a:t>
            </a:r>
            <a:endParaRPr lang="en-US" sz="2000" dirty="0"/>
          </a:p>
        </p:txBody>
      </p:sp>
      <p:sp>
        <p:nvSpPr>
          <p:cNvPr id="15" name="feature body 4"/>
          <p:cNvSpPr txBox="1"/>
          <p:nvPr/>
        </p:nvSpPr>
        <p:spPr>
          <a:xfrm>
            <a:off x="6492240" y="4663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One toggle switches device at runtime; indexes stay valid because the weights are the same.</a:t>
            </a:r>
            <a:endParaRPr lang="en-US" sz="1400" dirty="0"/>
          </a:p>
        </p:txBody>
      </p:sp>
      <p:sp>
        <p:nvSpPr>
          <p:cNvPr id="16" name="app footnote"/>
          <p:cNvSpPr txBox="1"/>
          <p:nvPr/>
        </p:nvSpPr>
        <p:spPr>
          <a:xfrm>
            <a:off x="640080" y="5897880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Python backend with a local HTTP API, pywebview (WebView2) window, black-and-white UI with overlay sidebars and macOS-style window controls. Also runs in a browser, from the CLI, or in Docker.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SCREENING SUBMISSION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From training data to the MTEB results file</a:t>
            </a:r>
            <a:endParaRPr lang="en-US" sz="3600" dirty="0"/>
          </a:p>
        </p:txBody>
      </p:sp>
      <p:sp>
        <p:nvSpPr>
          <p:cNvPr id="4" name="submission backdrop"/>
          <p:cNvSpPr/>
          <p:nvPr/>
        </p:nvSpPr>
        <p:spPr>
          <a:xfrm>
            <a:off x="640080" y="1783080"/>
            <a:ext cx="10927080" cy="3703320"/>
          </a:xfrm>
          <a:prstGeom prst="roundRect">
            <a:avLst>
              <a:gd name="adj" fmla="val 1975"/>
            </a:avLst>
          </a:prstGeom>
          <a:solidFill>
            <a:srgbClr val="FBF6F8"/>
          </a:solidFill>
          <a:ln/>
        </p:spPr>
      </p:sp>
      <p:pic>
        <p:nvPicPr>
          <p:cNvPr id="5" name="submission diagra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10652760" cy="3538728"/>
          </a:xfrm>
          <a:prstGeom prst="rect">
            <a:avLst/>
          </a:prstGeom>
        </p:spPr>
      </p:pic>
      <p:sp>
        <p:nvSpPr>
          <p:cNvPr id="6" name="submission caption"/>
          <p:cNvSpPr txBox="1"/>
          <p:nvPr/>
        </p:nvSpPr>
        <p:spPr>
          <a:xfrm>
            <a:off x="640080" y="566928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PrePostPipelineEncoder (an MTEB AbsEncoder) wraps the chosen model and query preprocessing. The official run on CPU wrote results/appsretrieval_results.json: 84.03 NDCG@10 in 98 minutes.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WHAT WE LEARNED AND WHAT IS NEXT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Measure first: the base model beat our fine-tune</a:t>
            </a:r>
            <a:endParaRPr lang="en-US" sz="3600" dirty="0"/>
          </a:p>
        </p:txBody>
      </p:sp>
      <p:sp>
        <p:nvSpPr>
          <p:cNvPr id="4" name="learned card"/>
          <p:cNvSpPr/>
          <p:nvPr/>
        </p:nvSpPr>
        <p:spPr>
          <a:xfrm>
            <a:off x="64008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learned head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Learned</a:t>
            </a:r>
            <a:endParaRPr lang="en-US" sz="2000" dirty="0"/>
          </a:p>
        </p:txBody>
      </p:sp>
      <p:sp>
        <p:nvSpPr>
          <p:cNvPr id="6" name="learned list"/>
          <p:cNvSpPr txBox="1"/>
          <p:nvPr/>
        </p:nvSpPr>
        <p:spPr>
          <a:xfrm>
            <a:off x="960120" y="26517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Fine-tuning on about 1k examples lowered both dev and test scores; the held-out dev set caught this before submission.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Some mined hard negatives were near-duplicate problems, which likely acted as false negatives.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Recall@100 is 99.5%, so the remaining headroom is in ranking, not retrieval.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Content hashing makes version indexing almost free after the first version.</a:t>
            </a:r>
            <a:endParaRPr lang="en-US" sz="1400" dirty="0"/>
          </a:p>
        </p:txBody>
      </p:sp>
      <p:sp>
        <p:nvSpPr>
          <p:cNvPr id="7" name="next card"/>
          <p:cNvSpPr/>
          <p:nvPr/>
        </p:nvSpPr>
        <p:spPr>
          <a:xfrm>
            <a:off x="621792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61616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" name="next head"/>
          <p:cNvSpPr txBox="1"/>
          <p:nvPr/>
        </p:nvSpPr>
        <p:spPr>
          <a:xfrm>
            <a:off x="653796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</a:t>
            </a:r>
            <a:endParaRPr lang="en-US" sz="2000" dirty="0"/>
          </a:p>
        </p:txBody>
      </p:sp>
      <p:sp>
        <p:nvSpPr>
          <p:cNvPr id="9" name="next list"/>
          <p:cNvSpPr txBox="1"/>
          <p:nvPr/>
        </p:nvSpPr>
        <p:spPr>
          <a:xfrm>
            <a:off x="6537960" y="26517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reranker that fits beside the embedder in 8 GB, to lift top-1 accuracy.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Gentler adaptation: LoRA, lower learning rate, de-duplicated negatives.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Down-weight test files in repository search.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One-click Windows installer with bundled fonts.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bg2"/>
                </a:solidFill>
              </a:rPr>
              <a:t>THANK YOU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37160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600" spc="-100" kern="0" dirty="0">
                <a:solidFill>
                  <a:schemeClr val="bg1"/>
                </a:solidFill>
              </a:rPr>
              <a:t>CODE, RESULTS, DEMO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75488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github.com/SOMASEKAR17/CodeRetriever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Tag: PRISM_GENAI_HACKATHON_Y2026 · Demo video linked in the README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Retriever Mono">
  <a:themeElements>
    <a:clrScheme name="CodeRetriever Mono">
      <a:dk1>
        <a:srgbClr val="0B0B0B"/>
      </a:dk1>
      <a:lt1>
        <a:srgbClr val="F2F2F0"/>
      </a:lt1>
      <a:dk2>
        <a:srgbClr val="1A1A1A"/>
      </a:dk2>
      <a:lt2>
        <a:srgbClr val="8C8C88"/>
      </a:lt2>
      <a:accent1>
        <a:srgbClr val="F2F2F0"/>
      </a:accent1>
      <a:accent2>
        <a:srgbClr val="5A5A57"/>
      </a:accent2>
      <a:accent3>
        <a:srgbClr val="B5B5B0"/>
      </a:accent3>
      <a:accent4>
        <a:srgbClr val="2A2A2A"/>
      </a:accent4>
      <a:accent5>
        <a:srgbClr val="D9D9D4"/>
      </a:accent5>
      <a:accent6>
        <a:srgbClr val="3D3D3B"/>
      </a:accent6>
      <a:hlink>
        <a:srgbClr val="F2F2F0"/>
      </a:hlink>
      <a:folHlink>
        <a:srgbClr val="B5B5B0"/>
      </a:folHlink>
    </a:clrScheme>
    <a:fontScheme name="CodeRetriever Mo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CodeRetriever</dc:title>
  <dc:subject>PptxGenJS Presentation</dc:subject>
  <dc:creator>SOMASEKAR17</dc:creator>
  <cp:lastModifiedBy>SOMASEKAR17</cp:lastModifiedBy>
  <cp:revision>1</cp:revision>
  <dcterms:created xsi:type="dcterms:W3CDTF">2026-10-03T11:32:32Z</dcterms:created>
  <dcterms:modified xsi:type="dcterms:W3CDTF">2026-10-03T11:32:32Z</dcterms:modified>
</cp:coreProperties>
</file>